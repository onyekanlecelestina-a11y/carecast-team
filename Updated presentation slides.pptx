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0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Charges ($)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Non-Smoker</c:v>
                </c:pt>
                <c:pt idx="1">
                  <c:v>Smoker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8441</c:v>
                </c:pt>
                <c:pt idx="1">
                  <c:v>32050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5281088"/>
        <c:axId val="205279128"/>
      </c:barChart>
      <c:catAx>
        <c:axId val="20528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5279128"/>
        <c:crosses val="autoZero"/>
        <c:auto val="1"/>
        <c:lblAlgn val="ctr"/>
        <c:lblOffset val="100"/>
        <c:noMultiLvlLbl val="1"/>
      </c:catAx>
      <c:valAx>
        <c:axId val="205279128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Average Charges (USD)</a:t>
                </a:r>
              </a:p>
            </c:rich>
          </c:tx>
          <c:layout/>
          <c:overlay val="0"/>
        </c:title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5281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  <c:spPr>
              <a:solidFill>
                <a:srgbClr val="8FA3D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Sex</c:v>
                </c:pt>
                <c:pt idx="1">
                  <c:v>Region</c:v>
                </c:pt>
                <c:pt idx="2">
                  <c:v>Children</c:v>
                </c:pt>
                <c:pt idx="3">
                  <c:v>Age</c:v>
                </c:pt>
                <c:pt idx="4">
                  <c:v>BMI</c:v>
                </c:pt>
                <c:pt idx="5">
                  <c:v>Smoker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1.21E-4</c:v>
                </c:pt>
                <c:pt idx="1">
                  <c:v>5.7899999999999998E-4</c:v>
                </c:pt>
                <c:pt idx="2">
                  <c:v>1.0564E-2</c:v>
                </c:pt>
                <c:pt idx="3">
                  <c:v>0.11985899999999999</c:v>
                </c:pt>
                <c:pt idx="4">
                  <c:v>0.17158799999999999</c:v>
                </c:pt>
                <c:pt idx="5">
                  <c:v>0.69721699999999998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7758392"/>
        <c:axId val="207760832"/>
      </c:barChart>
      <c:catAx>
        <c:axId val="2077583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7760832"/>
        <c:crosses val="autoZero"/>
        <c:auto val="1"/>
        <c:lblAlgn val="ctr"/>
        <c:lblOffset val="100"/>
        <c:noMultiLvlLbl val="1"/>
      </c:catAx>
      <c:valAx>
        <c:axId val="20776083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6E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7758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R² Score (higher is better)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sx="96000" sy="96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5"/>
                <c:pt idx="0">
                  <c:v>Linear Regression</c:v>
                </c:pt>
                <c:pt idx="1">
                  <c:v>Decision Tree</c:v>
                </c:pt>
                <c:pt idx="2">
                  <c:v>Extra Trees</c:v>
                </c:pt>
                <c:pt idx="3">
                  <c:v>Random Forest</c:v>
                </c:pt>
                <c:pt idx="4">
                  <c:v>Gradient Boosting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0.80689999999999995</c:v>
                </c:pt>
                <c:pt idx="1">
                  <c:v>0.80979999999999996</c:v>
                </c:pt>
                <c:pt idx="2">
                  <c:v>0.85429999999999995</c:v>
                </c:pt>
                <c:pt idx="3">
                  <c:v>0.87829999999999997</c:v>
                </c:pt>
                <c:pt idx="4">
                  <c:v>0.90090000000000003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1"/>
        <c:overlap val="-1"/>
        <c:axId val="248655592"/>
        <c:axId val="248654024"/>
      </c:barChart>
      <c:catAx>
        <c:axId val="248655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8654024"/>
        <c:crosses val="autoZero"/>
        <c:auto val="1"/>
        <c:lblAlgn val="ctr"/>
        <c:lblOffset val="100"/>
        <c:noMultiLvlLbl val="1"/>
      </c:catAx>
      <c:valAx>
        <c:axId val="248654024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8655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7CCD1E-0FDA-4DAC-8ED5-33EBC837B49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830E4-9627-4D54-A235-EE9B06963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4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97680"/>
            <a:ext cx="2926080" cy="292608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</a:t>
            </a:r>
            <a:r>
              <a:rPr lang="en-US" sz="1400" b="1" kern="0" spc="3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 </a:t>
            </a:r>
            <a:r>
              <a:rPr lang="en-US" sz="1400" b="1" kern="0" spc="3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Insurance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2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identify the true drivers of medical insurance charges — and how the business can act on them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|  Five-Model Comparison  |  Business Recommendations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5065295"/>
            <a:ext cx="2343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FROM : Team </a:t>
            </a:r>
            <a:r>
              <a:rPr lang="en-GB" dirty="0" err="1" smtClean="0">
                <a:solidFill>
                  <a:schemeClr val="bg1"/>
                </a:solidFill>
              </a:rPr>
              <a:t>CareCast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25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charges vary enormously from one policyholder to the next, driven by demographic and lifestyle factors that aren't obvious from raw data. Without a reliable, data-driven model, insurers risk mispricing policies — undercharging high-risk members or overcharging low-risk ones — which erodes margins and competitiveness.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3580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insurance dataset, explore it to uncover patterns and relationships, and build a machine learning model capable of accurately predicting medical insurance charges.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43100" y="417880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/home/claude/proj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437083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Data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53675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1,337 policyholder records across age, sex, BMI, dependents, smoking status &amp; region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388620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83580" y="417880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home/claude/proj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4370832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772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Drivers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63440" y="53675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regression models trained and compared — from Linear Regression to Gradient Boosting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388620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24060" y="417880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proj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7796" y="437083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820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Action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503920" y="53675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model insights into pricing, wellness, and underwriting recommendations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1,337 unique policyholder records (1 duplicate removed) · 7 variables · no missing values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9280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87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89280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$13,270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2587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Charge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89280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587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Smokers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89280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78240" y="2587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BMI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6424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7223760"/>
                <a:gridCol w="18288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primary beneficiary (18–64)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dependents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region (US)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insurance cost — target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Smoking Status Dominates Insurance Costs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charges by smoking status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5836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9164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801368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~3.8x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281160" y="1801368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cost for smokers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31546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7726680" y="3264408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281160" y="3264408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model importance from smoking status alone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46177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7726680" y="4727448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281160" y="4727448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policyholders are smokers (274 of 1,337)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BMI and Age Are Strong Secondary Drivers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roj/icons/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84708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373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Mass Index (BMI)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14400" y="269748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560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is approximately normally distributed; most policyholders fall between 25–35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37490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611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rise noticeably once BMI exceeds 30 (clinical obesity threshold)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14400" y="48006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663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Second-highest feature importance: 18.8%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0936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6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629400" y="1691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home/claude/proj/icons/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184708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8080" y="17373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6675120" y="269748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4"/>
          <p:cNvSpPr/>
          <p:nvPr/>
        </p:nvSpPr>
        <p:spPr>
          <a:xfrm>
            <a:off x="6903720" y="2560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Policyholders range from 18 to 64 years, concentrated between 20–50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675120" y="37490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6"/>
          <p:cNvSpPr/>
          <p:nvPr/>
        </p:nvSpPr>
        <p:spPr>
          <a:xfrm>
            <a:off x="6903720" y="3611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increase progressively with age — a clear, linear-like trend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675120" y="48006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18"/>
          <p:cNvSpPr/>
          <p:nvPr/>
        </p:nvSpPr>
        <p:spPr>
          <a:xfrm>
            <a:off x="6903720" y="4663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Third-highest feature importance: 12.3%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Model's Predictions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Gradient Boosting, the best-performing of five models tested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30622816"/>
              </p:ext>
            </p:extLst>
          </p:nvPr>
        </p:nvGraphicFramePr>
        <p:xfrm>
          <a:off x="548640" y="1554480"/>
          <a:ext cx="110642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&amp; Selection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regression models evaluated on a held-out 20% test set (268 records)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24595186"/>
              </p:ext>
            </p:extLst>
          </p:nvPr>
        </p:nvGraphicFramePr>
        <p:xfrm>
          <a:off x="365760" y="1600200"/>
          <a:ext cx="649224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005112"/>
              </p:ext>
            </p:extLst>
          </p:nvPr>
        </p:nvGraphicFramePr>
        <p:xfrm>
          <a:off x="7086600" y="1737360"/>
          <a:ext cx="4572000" cy="251277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914400"/>
              </a:tblGrid>
              <a:tr h="4187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2517.47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4268.28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2662.47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4729.01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smtClean="0"/>
                        <a:t>Extra Trees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2638.89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5174.70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2804.81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5912.11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Linear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4177.05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5956.34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086600" y="443484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/>
        </p:spPr>
      </p:sp>
      <p:pic>
        <p:nvPicPr>
          <p:cNvPr id="7" name="Image 0" descr="/home/claude/proj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617720"/>
            <a:ext cx="347472" cy="347472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77724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Selected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315200" y="50292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every metric among all five models — explains 90.1% of variance in charges with the lowest average error. Saved for deployment.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act on the model's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2B3A7A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roj/icons/smo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smoking-cessation programs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premium discounts for cessation enrollment — smoking drives 67% of predictive weight and a ~4x cost gap.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2B3A7A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proj/icons/heartb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1762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0916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BMI-linked wellness incentives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09160" y="388620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weight-management and preventive-health programs at members with BMI above 30.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2B3A7A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49640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2" descr="/home/claude/proj/icons/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21762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064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54964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age-banded risk tiers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549640" y="388620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 brackets in pricing and reserves; pair with proactive outreach for older members.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governance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2B3A7A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roj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model for underwriting support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Gradient Boosting — the top performer among five models tested — into quoting workflows to flag high-risk applicants early.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2B3A7A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proj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1762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0916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De-emphasize sex and region in pricing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09160" y="388620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factors contribute less than 2% combined to predictive accuracy — avoid using them as material pricing inputs to simplify compliance.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2B3A7A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49640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2" descr="/home/claude/proj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21762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064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54964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 model monitoring &amp; retraining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549640" y="388620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prediction accuracy against actual claims quarterly and retrain as new policyholder data accumulates.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status, BMI, and age together explain the overwhelming majority of variation in medical insurance charges. Out of five models tested, Gradient Boosting is ready for deployment at 90.1% accuracy, and the findings point to clear, actionable levers for reducing both individual risk and aggregate claims costs.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9260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trained model into the underwriting / quoting pipeline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703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smoking-cessation and BMI wellness incentive programs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44805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quarterly model monitoring and retraining cadence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52578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policy to de-emphasize low-signal variables (sex, region)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</a:t>
            </a:r>
            <a:r>
              <a:rPr lang="en-US" sz="1600" i="1" dirty="0" smtClean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– Team </a:t>
            </a:r>
            <a:r>
              <a:rPr lang="en-US" sz="1600" i="1" dirty="0" err="1" smtClean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CareCast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781</Words>
  <Application>Microsoft Office PowerPoint</Application>
  <PresentationFormat>Widescreen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7</cp:revision>
  <dcterms:created xsi:type="dcterms:W3CDTF">2026-08-02T21:24:19Z</dcterms:created>
  <dcterms:modified xsi:type="dcterms:W3CDTF">2026-08-03T22:56:22Z</dcterms:modified>
</cp:coreProperties>
</file>